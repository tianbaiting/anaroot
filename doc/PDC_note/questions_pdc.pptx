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58" r:id="rId5"/>
    <p:sldId id="260"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806" autoAdjust="0"/>
    <p:restoredTop sz="94660"/>
  </p:normalViewPr>
  <p:slideViewPr>
    <p:cSldViewPr snapToGrid="0">
      <p:cViewPr varScale="1">
        <p:scale>
          <a:sx n="98" d="100"/>
          <a:sy n="98" d="100"/>
        </p:scale>
        <p:origin x="84"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22C3D2-7E9F-C38A-5566-CE4C42CCC8A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C8F07E0-92C7-71E3-24DC-4BCCEAE15E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0432768-EA14-6D58-E57F-D6AE8509C1DF}"/>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84FC23C1-5CDF-D5E4-C4A1-D3606A739E4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451565D-343C-F4AB-452B-E4E00FABFD2B}"/>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2315800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215CEC-85F1-01C2-2389-9B7159386D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CD03F0A-7137-172C-E20D-B0DFADD5B9E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E9563B-A07D-6DC6-122C-A03F6632CC36}"/>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9DDECC45-8363-D8FE-50B7-905B546AE5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44126A-8905-3C3C-D75C-A7436BFF904E}"/>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3907930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4600E-5EA6-C483-E666-93750F9FDB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850E606-3A12-7BBE-93B1-6B625A4A94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1E2F49-914B-C0A3-E5A7-8B4193FEC026}"/>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1B2FEB32-1B9F-FF67-4491-F8E234E301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2B77CC-57B6-3884-64FB-EFBF6F287923}"/>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1576019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D5142B-8A6A-E61E-3909-6CE60DF63FE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B8101B3-0120-D729-8970-D5E4BFF3234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0B2CAA0-DB15-FA11-49A9-0C87CFAB795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D9D11B4-FDB3-7F7E-3046-27D1756638F4}"/>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6" name="页脚占位符 5">
            <a:extLst>
              <a:ext uri="{FF2B5EF4-FFF2-40B4-BE49-F238E27FC236}">
                <a16:creationId xmlns:a16="http://schemas.microsoft.com/office/drawing/2014/main" id="{D314F925-3A37-B108-A476-9C848A59B0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E0372E1-CBD7-22D5-7D3E-3AF841A2634F}"/>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4203790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8ABF2-BFE5-E7C9-FFB5-16FAB6154E3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FFBDCE7-4121-0794-3FC7-3D7F81F503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B28EDFF-918D-2228-3EE7-3F484763DD1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F5DD5EF-90C0-2784-D338-0C3EB1E619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338476E-1401-B4E4-BD3D-BD95CBCBAA3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31F767B-F9D4-E94A-2AD7-7BFA99D899D6}"/>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8" name="页脚占位符 7">
            <a:extLst>
              <a:ext uri="{FF2B5EF4-FFF2-40B4-BE49-F238E27FC236}">
                <a16:creationId xmlns:a16="http://schemas.microsoft.com/office/drawing/2014/main" id="{1C49A6EB-FFB7-0A88-9BE4-6AAC967626D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9787D6F-5D2F-3B82-5C10-39A45AEEFCAB}"/>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3929271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94667D-7C6C-ABC4-43C5-41ADD5E2131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09238F4-702D-D9AB-AF3B-501FA92B61CB}"/>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4" name="页脚占位符 3">
            <a:extLst>
              <a:ext uri="{FF2B5EF4-FFF2-40B4-BE49-F238E27FC236}">
                <a16:creationId xmlns:a16="http://schemas.microsoft.com/office/drawing/2014/main" id="{9B58193F-6ECC-7356-4669-3CA60BCC77D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2044B99-EF22-455F-5DCC-8E06AA53452F}"/>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1296502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EFA0C76-02DD-7E69-A076-D6DDB749FC23}"/>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3" name="页脚占位符 2">
            <a:extLst>
              <a:ext uri="{FF2B5EF4-FFF2-40B4-BE49-F238E27FC236}">
                <a16:creationId xmlns:a16="http://schemas.microsoft.com/office/drawing/2014/main" id="{0849584B-978C-6EE9-6A92-8B9E704BCE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FCA0912-5684-630B-3850-BFF693356FD2}"/>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2346068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13379-CCC1-4B4C-46DF-A9BB4D3046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F4E1749-3793-03F1-2B11-9F33E70A83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B8629-CDA9-F868-ED20-342A0BE6A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24C75C7-A0CD-EA08-37FB-866B9380D781}"/>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6" name="页脚占位符 5">
            <a:extLst>
              <a:ext uri="{FF2B5EF4-FFF2-40B4-BE49-F238E27FC236}">
                <a16:creationId xmlns:a16="http://schemas.microsoft.com/office/drawing/2014/main" id="{2CAEAE03-B60F-13A1-6957-BE757476CE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F057D6-F66D-8D65-2D1D-0BC5147AF76F}"/>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2906414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1FC99A-AB3B-0F95-CECC-4089D007D5B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A2616A2-484D-5356-DD96-25F07C2B9C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252F3BF-C6FA-915F-8881-AB503F3D13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96D6F90-F410-CCBE-A3FA-266123F52D0A}"/>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6" name="页脚占位符 5">
            <a:extLst>
              <a:ext uri="{FF2B5EF4-FFF2-40B4-BE49-F238E27FC236}">
                <a16:creationId xmlns:a16="http://schemas.microsoft.com/office/drawing/2014/main" id="{7CC850F4-0C5E-BCCA-A9F3-9B2FAA1FA9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34DF1A1-AD54-1FB1-9AEA-921228F4EC26}"/>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2111144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C4C75B-1089-E1CA-ADDE-B9F8714CA4F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5C9085C-E8DA-1A77-9186-A2D4DF1EBEF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EA0866-3D31-8117-BD7B-3FCDA3E00921}"/>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DA999337-D518-08D4-FE8B-6F11B318AB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43118B-46EE-661E-9CB0-120AB43C5F7F}"/>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2253528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A26243E-AC12-F9AC-020A-766B49C4FD8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FBA0E61-FF0B-D599-9892-01E0D649E60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A82F71-CDB7-D3BA-AFDD-CF68F5C03E7C}"/>
              </a:ext>
            </a:extLst>
          </p:cNvPr>
          <p:cNvSpPr>
            <a:spLocks noGrp="1"/>
          </p:cNvSpPr>
          <p:nvPr>
            <p:ph type="dt" sz="half" idx="10"/>
          </p:nvPr>
        </p:nvSpPr>
        <p:spPr/>
        <p:txBody>
          <a:bodyPr/>
          <a:lstStyle/>
          <a:p>
            <a:fld id="{96FA4423-57CE-4F1E-889E-070B305C2A56}"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AA245634-3936-04CC-41A6-0C26BBED69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5DDA99-E279-7D27-53CE-A117CC1FED05}"/>
              </a:ext>
            </a:extLst>
          </p:cNvPr>
          <p:cNvSpPr>
            <a:spLocks noGrp="1"/>
          </p:cNvSpPr>
          <p:nvPr>
            <p:ph type="sldNum" sz="quarter" idx="12"/>
          </p:nvPr>
        </p:nvSpPr>
        <p:spPr/>
        <p:txBody>
          <a:body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4113241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B34ECA2-4A9D-F34D-5069-A2AB1E1014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D63C66-3D7C-F976-B8E6-B1C07491CD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BE512CA-7026-9047-7216-D8C72CC1C5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A4423-57CE-4F1E-889E-070B305C2A56}" type="datetimeFigureOut">
              <a:rPr lang="zh-CN" altLang="en-US" smtClean="0"/>
              <a:t>2025/9/22</a:t>
            </a:fld>
            <a:endParaRPr lang="zh-CN" altLang="en-US"/>
          </a:p>
        </p:txBody>
      </p:sp>
      <p:sp>
        <p:nvSpPr>
          <p:cNvPr id="5" name="页脚占位符 4">
            <a:extLst>
              <a:ext uri="{FF2B5EF4-FFF2-40B4-BE49-F238E27FC236}">
                <a16:creationId xmlns:a16="http://schemas.microsoft.com/office/drawing/2014/main" id="{8440226D-0716-EF5C-8A46-A777A569AB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F807111-047F-301B-F3A8-02FF0B0460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D294CE-4BAF-4085-A6F9-692254F22138}" type="slidenum">
              <a:rPr lang="zh-CN" altLang="en-US" smtClean="0"/>
              <a:t>‹#›</a:t>
            </a:fld>
            <a:endParaRPr lang="zh-CN" altLang="en-US"/>
          </a:p>
        </p:txBody>
      </p:sp>
    </p:spTree>
    <p:extLst>
      <p:ext uri="{BB962C8B-B14F-4D97-AF65-F5344CB8AC3E}">
        <p14:creationId xmlns:p14="http://schemas.microsoft.com/office/powerpoint/2010/main" val="3868825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ribf.riken.jp/SAMURAI/samuraiwiki/doku.php?id=start&amp;image=samurai%3Aexperiments%3A24s047s053%3Ameetinglog%3A20250901pdc_v01.zip&amp;ns=samurai%3Aexperiments%3A24s047s053%3Ameetinglog&amp;tab_details=view&amp;do=medi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542717-CFDE-D0EB-A351-9A34FEBCF2E5}"/>
              </a:ext>
            </a:extLst>
          </p:cNvPr>
          <p:cNvSpPr>
            <a:spLocks noGrp="1"/>
          </p:cNvSpPr>
          <p:nvPr>
            <p:ph type="ctrTitle"/>
          </p:nvPr>
        </p:nvSpPr>
        <p:spPr/>
        <p:txBody>
          <a:bodyPr/>
          <a:lstStyle/>
          <a:p>
            <a:r>
              <a:rPr lang="en-US" altLang="zh-CN" dirty="0"/>
              <a:t>PDC</a:t>
            </a:r>
            <a:endParaRPr lang="zh-CN" altLang="en-US" dirty="0"/>
          </a:p>
        </p:txBody>
      </p:sp>
      <p:sp>
        <p:nvSpPr>
          <p:cNvPr id="3" name="副标题 2">
            <a:extLst>
              <a:ext uri="{FF2B5EF4-FFF2-40B4-BE49-F238E27FC236}">
                <a16:creationId xmlns:a16="http://schemas.microsoft.com/office/drawing/2014/main" id="{A02B01EE-F0AE-46A2-9904-F82FFEFA56A3}"/>
              </a:ext>
            </a:extLst>
          </p:cNvPr>
          <p:cNvSpPr>
            <a:spLocks noGrp="1"/>
          </p:cNvSpPr>
          <p:nvPr>
            <p:ph type="subTitle" idx="1"/>
          </p:nvPr>
        </p:nvSpPr>
        <p:spPr/>
        <p:txBody>
          <a:bodyPr/>
          <a:lstStyle/>
          <a:p>
            <a:r>
              <a:rPr lang="en-US" altLang="zh-CN" dirty="0"/>
              <a:t>tbt23@mails.tsinghua.edu.cn</a:t>
            </a:r>
            <a:endParaRPr lang="zh-CN" altLang="en-US" dirty="0"/>
          </a:p>
        </p:txBody>
      </p:sp>
    </p:spTree>
    <p:extLst>
      <p:ext uri="{BB962C8B-B14F-4D97-AF65-F5344CB8AC3E}">
        <p14:creationId xmlns:p14="http://schemas.microsoft.com/office/powerpoint/2010/main" val="2257139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A0AB88-8992-640B-7817-094D188406FF}"/>
              </a:ext>
            </a:extLst>
          </p:cNvPr>
          <p:cNvSpPr>
            <a:spLocks noGrp="1"/>
          </p:cNvSpPr>
          <p:nvPr>
            <p:ph type="title"/>
          </p:nvPr>
        </p:nvSpPr>
        <p:spPr>
          <a:xfrm>
            <a:off x="399415" y="-33992"/>
            <a:ext cx="10515600" cy="1325563"/>
          </a:xfrm>
        </p:spPr>
        <p:txBody>
          <a:bodyPr/>
          <a:lstStyle/>
          <a:p>
            <a:r>
              <a:rPr lang="en-US" altLang="zh-CN" dirty="0"/>
              <a:t>·what’s the TDC in fig 207 ? </a:t>
            </a:r>
            <a:endParaRPr lang="zh-CN" altLang="en-US" dirty="0"/>
          </a:p>
        </p:txBody>
      </p:sp>
      <p:pic>
        <p:nvPicPr>
          <p:cNvPr id="6" name="图片 5">
            <a:extLst>
              <a:ext uri="{FF2B5EF4-FFF2-40B4-BE49-F238E27FC236}">
                <a16:creationId xmlns:a16="http://schemas.microsoft.com/office/drawing/2014/main" id="{2A0127E2-21D0-A56D-7B24-8E5C73E0E4C4}"/>
              </a:ext>
            </a:extLst>
          </p:cNvPr>
          <p:cNvPicPr>
            <a:picLocks noChangeAspect="1"/>
          </p:cNvPicPr>
          <p:nvPr/>
        </p:nvPicPr>
        <p:blipFill>
          <a:blip r:embed="rId2"/>
          <a:stretch>
            <a:fillRect/>
          </a:stretch>
        </p:blipFill>
        <p:spPr>
          <a:xfrm>
            <a:off x="399415" y="1807420"/>
            <a:ext cx="6047055" cy="4859867"/>
          </a:xfrm>
          <a:prstGeom prst="rect">
            <a:avLst/>
          </a:prstGeom>
        </p:spPr>
      </p:pic>
      <p:sp>
        <p:nvSpPr>
          <p:cNvPr id="7" name="文本框 6">
            <a:extLst>
              <a:ext uri="{FF2B5EF4-FFF2-40B4-BE49-F238E27FC236}">
                <a16:creationId xmlns:a16="http://schemas.microsoft.com/office/drawing/2014/main" id="{CF728786-E0DC-364E-48E3-9453B60DCA6C}"/>
              </a:ext>
            </a:extLst>
          </p:cNvPr>
          <p:cNvSpPr txBox="1"/>
          <p:nvPr/>
        </p:nvSpPr>
        <p:spPr>
          <a:xfrm>
            <a:off x="6671877" y="1319112"/>
            <a:ext cx="5520123" cy="4247317"/>
          </a:xfrm>
          <a:prstGeom prst="rect">
            <a:avLst/>
          </a:prstGeom>
          <a:noFill/>
        </p:spPr>
        <p:txBody>
          <a:bodyPr wrap="square" rtlCol="0">
            <a:spAutoFit/>
          </a:bodyPr>
          <a:lstStyle/>
          <a:p>
            <a:r>
              <a:rPr lang="en-US" altLang="zh-CN" dirty="0"/>
              <a:t>If I want to know </a:t>
            </a:r>
            <a:r>
              <a:rPr lang="en-US" altLang="zh-CN" b="1" dirty="0"/>
              <a:t>the resolution of U cathode planes</a:t>
            </a:r>
            <a:r>
              <a:rPr lang="en-US" altLang="zh-CN" dirty="0"/>
              <a:t>, I think the x axis is the position reconstructed by the U cathode induced charge signal and y axis is the TDC. But how to get the TDC information? If the anode can be readout?  For my understanding, It should measure the same direction position, so it can have the correlation. So the drift time should the </a:t>
            </a:r>
            <a:r>
              <a:rPr lang="en-US" altLang="zh-CN" dirty="0" err="1"/>
              <a:t>the</a:t>
            </a:r>
            <a:r>
              <a:rPr lang="en-US" altLang="zh-CN" dirty="0"/>
              <a:t> time drift to U anode. </a:t>
            </a:r>
          </a:p>
          <a:p>
            <a:r>
              <a:rPr lang="en-US" altLang="zh-CN" dirty="0"/>
              <a:t>I think there are 2 cases:</a:t>
            </a:r>
          </a:p>
          <a:p>
            <a:pPr marL="342900" indent="-342900">
              <a:buAutoNum type="alphaLcParenR"/>
            </a:pPr>
            <a:r>
              <a:rPr lang="en-US" altLang="zh-CN" dirty="0"/>
              <a:t>Anode can be readout. Y axis is the U anode drift time.</a:t>
            </a:r>
          </a:p>
          <a:p>
            <a:pPr marL="342900" indent="-342900">
              <a:buAutoNum type="alphaLcParenR"/>
            </a:pPr>
            <a:r>
              <a:rPr lang="en-US" altLang="zh-CN" dirty="0"/>
              <a:t>Only cathode can be readout. Y axis is the </a:t>
            </a:r>
            <a:r>
              <a:rPr lang="en-US" altLang="zh-CN" dirty="0" err="1"/>
              <a:t>getTDC</a:t>
            </a:r>
            <a:r>
              <a:rPr lang="en-US" altLang="zh-CN" dirty="0"/>
              <a:t>() of V cathode. As the configuration is cathode(U)-Anode(V)-cathode(X)-anode(U)-cathode(V). cathode(V) can give the drift time of anode(U).</a:t>
            </a:r>
          </a:p>
        </p:txBody>
      </p:sp>
      <p:sp>
        <p:nvSpPr>
          <p:cNvPr id="4" name="文本框 3">
            <a:extLst>
              <a:ext uri="{FF2B5EF4-FFF2-40B4-BE49-F238E27FC236}">
                <a16:creationId xmlns:a16="http://schemas.microsoft.com/office/drawing/2014/main" id="{46F6C5DE-2D20-E8A5-8816-E52DB66C6C60}"/>
              </a:ext>
            </a:extLst>
          </p:cNvPr>
          <p:cNvSpPr txBox="1"/>
          <p:nvPr/>
        </p:nvSpPr>
        <p:spPr>
          <a:xfrm>
            <a:off x="382110" y="963437"/>
            <a:ext cx="6177064" cy="923330"/>
          </a:xfrm>
          <a:prstGeom prst="rect">
            <a:avLst/>
          </a:prstGeom>
          <a:noFill/>
        </p:spPr>
        <p:txBody>
          <a:bodyPr wrap="square">
            <a:spAutoFit/>
          </a:bodyPr>
          <a:lstStyle/>
          <a:p>
            <a:r>
              <a:rPr lang="en-US" altLang="zh-CN" dirty="0"/>
              <a:t>The text mentions that "TDC information of the V plane was mimicked by the timing of the U anode wire". Could you please elaborate on this?</a:t>
            </a:r>
            <a:endParaRPr lang="zh-CN" altLang="en-US" dirty="0"/>
          </a:p>
        </p:txBody>
      </p:sp>
    </p:spTree>
    <p:extLst>
      <p:ext uri="{BB962C8B-B14F-4D97-AF65-F5344CB8AC3E}">
        <p14:creationId xmlns:p14="http://schemas.microsoft.com/office/powerpoint/2010/main" val="3433592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DCAE64-2A52-A597-5020-FD86E007A143}"/>
              </a:ext>
            </a:extLst>
          </p:cNvPr>
          <p:cNvSpPr>
            <a:spLocks noGrp="1"/>
          </p:cNvSpPr>
          <p:nvPr>
            <p:ph type="title"/>
          </p:nvPr>
        </p:nvSpPr>
        <p:spPr/>
        <p:txBody>
          <a:bodyPr/>
          <a:lstStyle/>
          <a:p>
            <a:r>
              <a:rPr lang="en-US" altLang="zh-CN" dirty="0"/>
              <a:t>About the resolution:</a:t>
            </a:r>
            <a:endParaRPr lang="zh-CN" altLang="en-US" dirty="0"/>
          </a:p>
        </p:txBody>
      </p:sp>
      <p:sp>
        <p:nvSpPr>
          <p:cNvPr id="3" name="内容占位符 2">
            <a:extLst>
              <a:ext uri="{FF2B5EF4-FFF2-40B4-BE49-F238E27FC236}">
                <a16:creationId xmlns:a16="http://schemas.microsoft.com/office/drawing/2014/main" id="{3633D883-1617-1D84-8CFF-75E3B51C2334}"/>
              </a:ext>
            </a:extLst>
          </p:cNvPr>
          <p:cNvSpPr>
            <a:spLocks noGrp="1"/>
          </p:cNvSpPr>
          <p:nvPr>
            <p:ph idx="1"/>
          </p:nvPr>
        </p:nvSpPr>
        <p:spPr/>
        <p:txBody>
          <a:bodyPr/>
          <a:lstStyle/>
          <a:p>
            <a:r>
              <a:rPr lang="en-US" altLang="zh-CN" dirty="0"/>
              <a:t>So , now the resolution is about </a:t>
            </a:r>
            <a:r>
              <a:rPr lang="en-GB" altLang="zh-CN" dirty="0"/>
              <a:t>0.35-2 mm for U &amp; V layer?</a:t>
            </a:r>
          </a:p>
          <a:p>
            <a:endParaRPr lang="zh-CN" altLang="en-US" dirty="0"/>
          </a:p>
        </p:txBody>
      </p:sp>
      <p:pic>
        <p:nvPicPr>
          <p:cNvPr id="5" name="图片 4">
            <a:extLst>
              <a:ext uri="{FF2B5EF4-FFF2-40B4-BE49-F238E27FC236}">
                <a16:creationId xmlns:a16="http://schemas.microsoft.com/office/drawing/2014/main" id="{779F8B01-39CE-7A78-AB96-C46064CF4AB7}"/>
              </a:ext>
            </a:extLst>
          </p:cNvPr>
          <p:cNvPicPr>
            <a:picLocks noChangeAspect="1"/>
          </p:cNvPicPr>
          <p:nvPr/>
        </p:nvPicPr>
        <p:blipFill>
          <a:blip r:embed="rId2"/>
          <a:stretch>
            <a:fillRect/>
          </a:stretch>
        </p:blipFill>
        <p:spPr>
          <a:xfrm>
            <a:off x="251689" y="2553571"/>
            <a:ext cx="5967933" cy="3292652"/>
          </a:xfrm>
          <a:prstGeom prst="rect">
            <a:avLst/>
          </a:prstGeom>
        </p:spPr>
      </p:pic>
      <p:sp>
        <p:nvSpPr>
          <p:cNvPr id="7" name="文本框 6">
            <a:extLst>
              <a:ext uri="{FF2B5EF4-FFF2-40B4-BE49-F238E27FC236}">
                <a16:creationId xmlns:a16="http://schemas.microsoft.com/office/drawing/2014/main" id="{5BBFF46C-2FF0-2683-218D-E02EBD7035B7}"/>
              </a:ext>
            </a:extLst>
          </p:cNvPr>
          <p:cNvSpPr txBox="1"/>
          <p:nvPr/>
        </p:nvSpPr>
        <p:spPr>
          <a:xfrm>
            <a:off x="6858000" y="2898843"/>
            <a:ext cx="4387174" cy="2308324"/>
          </a:xfrm>
          <a:prstGeom prst="rect">
            <a:avLst/>
          </a:prstGeom>
          <a:noFill/>
        </p:spPr>
        <p:txBody>
          <a:bodyPr wrap="square" rtlCol="0">
            <a:spAutoFit/>
          </a:bodyPr>
          <a:lstStyle/>
          <a:p>
            <a:r>
              <a:rPr lang="en-US" altLang="zh-CN" dirty="0"/>
              <a:t>Is that value obtained from something like Figure 208? However, I think Figure 208 just shows the magnitude of the relative error between the two methods: the one using drift time and the one using induced charge reconstruction. How can one determine which of these two errors is relatively larger and which is smaller?</a:t>
            </a:r>
            <a:endParaRPr lang="zh-CN" altLang="en-US" dirty="0"/>
          </a:p>
        </p:txBody>
      </p:sp>
    </p:spTree>
    <p:extLst>
      <p:ext uri="{BB962C8B-B14F-4D97-AF65-F5344CB8AC3E}">
        <p14:creationId xmlns:p14="http://schemas.microsoft.com/office/powerpoint/2010/main" val="1880772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34A8B8-3C07-8AAC-6BE7-873402536087}"/>
              </a:ext>
            </a:extLst>
          </p:cNvPr>
          <p:cNvSpPr>
            <a:spLocks noGrp="1"/>
          </p:cNvSpPr>
          <p:nvPr>
            <p:ph type="title"/>
          </p:nvPr>
        </p:nvSpPr>
        <p:spPr/>
        <p:txBody>
          <a:bodyPr/>
          <a:lstStyle/>
          <a:p>
            <a:r>
              <a:rPr lang="en-US" altLang="zh-CN" dirty="0"/>
              <a:t>What’s the U V definition. </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249AE32-627C-EFD7-FF05-CD84B727E609}"/>
                  </a:ext>
                </a:extLst>
              </p:cNvPr>
              <p:cNvSpPr>
                <a:spLocks noGrp="1"/>
              </p:cNvSpPr>
              <p:nvPr>
                <p:ph idx="1"/>
              </p:nvPr>
            </p:nvSpPr>
            <p:spPr/>
            <p:txBody>
              <a:bodyPr>
                <a:normAutofit fontScale="85000" lnSpcReduction="20000"/>
              </a:bodyPr>
              <a:lstStyle/>
              <a:p>
                <a:r>
                  <a:rPr lang="en-GB" altLang="zh-CN" dirty="0"/>
                  <a:t>s057@ribfana04  /home/s057/exp/exp2505_s057/</a:t>
                </a:r>
                <a:r>
                  <a:rPr lang="en-GB" altLang="zh-CN" dirty="0" err="1"/>
                  <a:t>anaroot</a:t>
                </a:r>
                <a:r>
                  <a:rPr lang="en-GB" altLang="zh-CN" dirty="0"/>
                  <a:t>/users/tbt/</a:t>
                </a:r>
                <a:r>
                  <a:rPr lang="en-GB" altLang="zh-CN" dirty="0" err="1"/>
                  <a:t>db</a:t>
                </a:r>
                <a:r>
                  <a:rPr lang="en-GB" altLang="zh-CN" dirty="0"/>
                  <a:t>/SAMURAIPDC.xml</a:t>
                </a:r>
              </a:p>
              <a:p>
                <a:pPr marL="0" indent="0">
                  <a:buNone/>
                </a:pPr>
                <a:r>
                  <a:rPr lang="en-GB" altLang="zh-CN" dirty="0">
                    <a:hlinkClick r:id="rId2"/>
                  </a:rPr>
                  <a:t>https://ribf.riken.jp/SAMURAI/samuraiwiki/doku.php?id=start&amp;image=samurai%3Aexperiments%3A24s047s053%3Ameetinglog%3A20250901pdc_v01.zip&amp;ns=samurai%3Aexperiments%3A24s047s053%3Ameetinglog&amp;tab_details=view&amp;do=media</a:t>
                </a:r>
                <a:endParaRPr lang="en-GB" altLang="zh-CN" dirty="0"/>
              </a:p>
              <a:p>
                <a:pPr marL="0" indent="0">
                  <a:buNone/>
                </a:pPr>
                <a:endParaRPr lang="en-GB" altLang="zh-CN" dirty="0"/>
              </a:p>
              <a:p>
                <a:pPr marL="0" indent="0">
                  <a:buNone/>
                </a:pPr>
                <a:r>
                  <a:rPr lang="en-US" altLang="zh-CN" dirty="0"/>
                  <a:t>The SAMURAIPDC.xml file on the server and the one on the wiki seem to have reversed definitions for U and V</a:t>
                </a:r>
                <a:r>
                  <a:rPr lang="en-GB" altLang="zh-CN" dirty="0"/>
                  <a:t>.    Can you tell me the U </a:t>
                </a:r>
                <a:r>
                  <a:rPr lang="en-US" altLang="zh-CN" dirty="0"/>
                  <a:t>V definition of one of xml file and their direction at samurai?  </a:t>
                </a:r>
              </a:p>
              <a:p>
                <a:pPr marL="0" indent="0">
                  <a:buNone/>
                </a:pPr>
                <a:r>
                  <a:rPr lang="en-US" altLang="zh-CN" dirty="0" err="1"/>
                  <a:t>Espically</a:t>
                </a:r>
                <a:r>
                  <a:rPr lang="en-US" altLang="zh-CN" dirty="0"/>
                  <a:t>, the definition of y, and the relationship to y, </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𝑉</m:t>
                        </m:r>
                      </m:num>
                      <m:den>
                        <m:r>
                          <a:rPr lang="en-US" altLang="zh-CN" b="0" i="1" smtClean="0">
                            <a:latin typeface="Cambria Math" panose="02040503050406030204" pitchFamily="18" charset="0"/>
                          </a:rPr>
                          <m:t>√2</m:t>
                        </m:r>
                      </m:den>
                    </m:f>
                    <m:r>
                      <a:rPr lang="en-US" altLang="zh-CN" b="0" i="0" smtClean="0">
                        <a:latin typeface="Cambria Math" panose="02040503050406030204" pitchFamily="18" charset="0"/>
                      </a:rPr>
                      <m:t>?</m:t>
                    </m:r>
                  </m:oMath>
                </a14:m>
                <a:endParaRPr lang="en-GB" altLang="zh-CN" dirty="0"/>
              </a:p>
              <a:p>
                <a:pPr marL="0" indent="0">
                  <a:buNone/>
                </a:pPr>
                <a:r>
                  <a:rPr lang="en-GB" altLang="zh-CN" dirty="0"/>
                  <a:t>Can you draw the U V cathode or U V axis in the next page?</a:t>
                </a:r>
              </a:p>
              <a:p>
                <a:endParaRPr lang="en-GB" altLang="zh-CN" dirty="0"/>
              </a:p>
              <a:p>
                <a:pPr marL="0" indent="0">
                  <a:buNone/>
                </a:pPr>
                <a:endParaRPr lang="zh-CN" altLang="en-US" dirty="0"/>
              </a:p>
            </p:txBody>
          </p:sp>
        </mc:Choice>
        <mc:Fallback>
          <p:sp>
            <p:nvSpPr>
              <p:cNvPr id="3" name="内容占位符 2">
                <a:extLst>
                  <a:ext uri="{FF2B5EF4-FFF2-40B4-BE49-F238E27FC236}">
                    <a16:creationId xmlns:a16="http://schemas.microsoft.com/office/drawing/2014/main" id="{5249AE32-627C-EFD7-FF05-CD84B727E609}"/>
                  </a:ext>
                </a:extLst>
              </p:cNvPr>
              <p:cNvSpPr>
                <a:spLocks noGrp="1" noRot="1" noChangeAspect="1" noMove="1" noResize="1" noEditPoints="1" noAdjustHandles="1" noChangeArrowheads="1" noChangeShapeType="1" noTextEdit="1"/>
              </p:cNvSpPr>
              <p:nvPr>
                <p:ph idx="1"/>
              </p:nvPr>
            </p:nvSpPr>
            <p:spPr>
              <a:blipFill>
                <a:blip r:embed="rId3"/>
                <a:stretch>
                  <a:fillRect l="-928" t="-3081" r="-11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589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ACBF776C-82E7-E716-7779-C6DD7D9CADAD}"/>
              </a:ext>
            </a:extLst>
          </p:cNvPr>
          <p:cNvPicPr>
            <a:picLocks noGrp="1" noChangeAspect="1"/>
          </p:cNvPicPr>
          <p:nvPr>
            <p:ph idx="1"/>
          </p:nvPr>
        </p:nvPicPr>
        <p:blipFill>
          <a:blip r:embed="rId2"/>
          <a:stretch>
            <a:fillRect/>
          </a:stretch>
        </p:blipFill>
        <p:spPr>
          <a:xfrm>
            <a:off x="6096000" y="2330450"/>
            <a:ext cx="5873170" cy="3670300"/>
          </a:xfrm>
          <a:prstGeom prst="rect">
            <a:avLst/>
          </a:prstGeom>
        </p:spPr>
      </p:pic>
      <p:pic>
        <p:nvPicPr>
          <p:cNvPr id="7" name="图片 6">
            <a:extLst>
              <a:ext uri="{FF2B5EF4-FFF2-40B4-BE49-F238E27FC236}">
                <a16:creationId xmlns:a16="http://schemas.microsoft.com/office/drawing/2014/main" id="{EF4A87BA-D5AB-8AEE-8E81-DF90CDE4AAF6}"/>
              </a:ext>
            </a:extLst>
          </p:cNvPr>
          <p:cNvPicPr>
            <a:picLocks noChangeAspect="1"/>
          </p:cNvPicPr>
          <p:nvPr/>
        </p:nvPicPr>
        <p:blipFill>
          <a:blip r:embed="rId3"/>
          <a:stretch>
            <a:fillRect/>
          </a:stretch>
        </p:blipFill>
        <p:spPr>
          <a:xfrm>
            <a:off x="222830" y="2708011"/>
            <a:ext cx="5697871" cy="3635639"/>
          </a:xfrm>
          <a:prstGeom prst="rect">
            <a:avLst/>
          </a:prstGeom>
        </p:spPr>
      </p:pic>
      <p:sp>
        <p:nvSpPr>
          <p:cNvPr id="8" name="文本框 7">
            <a:extLst>
              <a:ext uri="{FF2B5EF4-FFF2-40B4-BE49-F238E27FC236}">
                <a16:creationId xmlns:a16="http://schemas.microsoft.com/office/drawing/2014/main" id="{87E32881-20C7-BBDA-1BD0-DDA51F6C33DE}"/>
              </a:ext>
            </a:extLst>
          </p:cNvPr>
          <p:cNvSpPr txBox="1"/>
          <p:nvPr/>
        </p:nvSpPr>
        <p:spPr>
          <a:xfrm>
            <a:off x="1676400" y="466725"/>
            <a:ext cx="6829425" cy="923330"/>
          </a:xfrm>
          <a:prstGeom prst="rect">
            <a:avLst/>
          </a:prstGeom>
          <a:noFill/>
        </p:spPr>
        <p:txBody>
          <a:bodyPr wrap="square" rtlCol="0">
            <a:spAutoFit/>
          </a:bodyPr>
          <a:lstStyle/>
          <a:p>
            <a:r>
              <a:rPr lang="en-US" altLang="zh-CN" dirty="0"/>
              <a:t>And in order to make </a:t>
            </a:r>
            <a:r>
              <a:rPr lang="en-GB" altLang="zh-CN" dirty="0"/>
              <a:t>self-consistency </a:t>
            </a:r>
            <a:r>
              <a:rPr lang="en-US" altLang="zh-CN" dirty="0"/>
              <a:t>of cathode (x), which means one cathode wire x has the same x position, different wire have different x position. U V is the position instead of direction.</a:t>
            </a:r>
          </a:p>
        </p:txBody>
      </p:sp>
    </p:spTree>
    <p:extLst>
      <p:ext uri="{BB962C8B-B14F-4D97-AF65-F5344CB8AC3E}">
        <p14:creationId xmlns:p14="http://schemas.microsoft.com/office/powerpoint/2010/main" val="14865854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TotalTime>
  <Words>479</Words>
  <Application>Microsoft Office PowerPoint</Application>
  <PresentationFormat>宽屏</PresentationFormat>
  <Paragraphs>19</Paragraphs>
  <Slides>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vt:i4>
      </vt:variant>
    </vt:vector>
  </HeadingPairs>
  <TitlesOfParts>
    <vt:vector size="10" baseType="lpstr">
      <vt:lpstr>等线</vt:lpstr>
      <vt:lpstr>等线 Light</vt:lpstr>
      <vt:lpstr>Arial</vt:lpstr>
      <vt:lpstr>Cambria Math</vt:lpstr>
      <vt:lpstr>Office 主题​​</vt:lpstr>
      <vt:lpstr>PDC</vt:lpstr>
      <vt:lpstr>·what’s the TDC in fig 207 ? </vt:lpstr>
      <vt:lpstr>About the resolution:</vt:lpstr>
      <vt:lpstr>What’s the U V definition.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柏汀 田</dc:creator>
  <cp:lastModifiedBy>柏汀 田</cp:lastModifiedBy>
  <cp:revision>29</cp:revision>
  <dcterms:created xsi:type="dcterms:W3CDTF">2025-09-22T01:38:47Z</dcterms:created>
  <dcterms:modified xsi:type="dcterms:W3CDTF">2025-09-22T06:46:25Z</dcterms:modified>
</cp:coreProperties>
</file>